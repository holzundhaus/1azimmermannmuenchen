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muenchen.blogspot.com/2026/10/hinterluftete-holzfassade-oder.html" TargetMode="External"/><Relationship Id="rId3" Type="http://schemas.openxmlformats.org/officeDocument/2006/relationships/hyperlink" Target="https://holzundhaus.github.io/1azimmermannmuenchen/dateien/minimax-e4bd61416793acf5a5045cb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Hinterlüftete Holzfassade oder Direktmontage: Aufbau im Vergleich · Erklärende Präsentation</a:t>
            </a:r>
          </a:p>
        </p:txBody>
      </p:sp>
      <p:sp>
        <p:nvSpPr>
          <p:cNvPr id="3" name="Content Placeholder 2"/>
          <p:cNvSpPr>
            <a:spLocks noGrp="1"/>
          </p:cNvSpPr>
          <p:nvPr>
            <p:ph idx="1"/>
          </p:nvPr>
        </p:nvSpPr>
        <p:spPr/>
        <p:txBody>
          <a:bodyPr/>
          <a:lstStyle/>
          <a:p>
            <a:r>
              <a:t>Überblick: Bei einer Holzfassade entscheidet bereits die gewählte Befestigungsart über Feuchteschutz, Aufbauhöhe und mögliche Details. Der Vergleich hinterlüfteter Vorhangfassade und Direktmontage zeigt, warum Schichtenfolge, Befestigung sowie Sockel-, Fenster- und Dachrandanschlüsse gemeinsam betrachtet werden müssen. Der folgende Leitfaden hilft, die Varianten anhand des vorhandenen Wandaufbaus und des gewünschten Erscheinungsbilds einzuordnen, ohne einzelne Detailentscheidungen vorwegzunehmen.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Fassadenart passt zum vorhandenen Wandaufbau?</a:t>
            </a:r>
          </a:p>
        </p:txBody>
      </p:sp>
      <p:sp>
        <p:nvSpPr>
          <p:cNvPr id="3" name="Content Placeholder 2"/>
          <p:cNvSpPr>
            <a:spLocks noGrp="1"/>
          </p:cNvSpPr>
          <p:nvPr>
            <p:ph idx="1"/>
          </p:nvPr>
        </p:nvSpPr>
        <p:spPr/>
        <p:txBody>
          <a:bodyPr/>
          <a:lstStyle/>
          <a:p>
            <a:pPr>
              <a:defRPr sz="1800"/>
            </a:pPr>
            <a:r>
              <a:t>Bei der hinterlüfteten Vorhangfassade stehen die sichtbaren Holzprofile mit Abstand vor der Wand. Dazwischen befinden sich eine Unterkonstruktion, eine Hinterlüftungsebene und in der Regel eine geeignete diffusionsoffene Fassadenbahn. Der zusammenhängende Luftspalt kann Feuchtigkeit abführen, die als Schlagregen, Tauwasser oder aus dem Wandinneren ankommt. Voraussetzung ist, dass der Spalt ausreichend tief ist, am Sockel und am Dachrand belüftet wird und vertikal ungestört durchläuft. Die Profile übernehmen in diesem System den Wetterschutz, während die Wandkonstruktion bauphysikalisch getrennt geschützt bleibt. Diese Trennung ist besonders 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Fassadenart passt zum vorhandenen Wandaufbau?</a:t>
            </a:r>
          </a:p>
        </p:txBody>
      </p:sp>
      <p:sp>
        <p:nvSpPr>
          <p:cNvPr id="3" name="Content Placeholder 2"/>
          <p:cNvSpPr>
            <a:spLocks noGrp="1"/>
          </p:cNvSpPr>
          <p:nvPr>
            <p:ph idx="1"/>
          </p:nvPr>
        </p:nvSpPr>
        <p:spPr/>
        <p:txBody>
          <a:bodyPr/>
          <a:lstStyle/>
          <a:p>
            <a:pPr>
              <a:defRPr sz="1800"/>
            </a:pPr>
            <a:r>
              <a:t>nteressant, wenn Feuchteeintrag am Bestand nicht vollständig ausgeschlossen werden kann oder offene Profile beziehungsweise sichtbare Fugen geplant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die Direktmontage eine überlegbare Lösung?</a:t>
            </a:r>
          </a:p>
        </p:txBody>
      </p:sp>
      <p:sp>
        <p:nvSpPr>
          <p:cNvPr id="3" name="Content Placeholder 2"/>
          <p:cNvSpPr>
            <a:spLocks noGrp="1"/>
          </p:cNvSpPr>
          <p:nvPr>
            <p:ph idx="1"/>
          </p:nvPr>
        </p:nvSpPr>
        <p:spPr/>
        <p:txBody>
          <a:bodyPr/>
          <a:lstStyle/>
          <a:p>
            <a:pPr>
              <a:defRPr sz="1800"/>
            </a:pPr>
            <a:r>
              <a:t>Bei der Direktmontage werden die Holzprofile ohne durchgehenden Hinterlüftungsspalt auf einer Lattung befestigt, die direkt auf der Wand sitzt. Das Feuchtemanagement hängt dann stärker von der Profilausbildung, dem Fugenbild, der Befestigung und dem vorhandenen Wandaufbau ab. Kleinere Fehlstellen können Feuchte unmittelbar in die Konstruktion leiten. Die Lösung kann dennoch sinnvoll sein, wenn der Wandaufbau bereits ausreichend geregelt ist, wenig Aufbauhöhe benötigt wird und die Fassade geschlossen ausgeführt werden soll. Profile und Befestigung müssen dabei dauerhaft zusammenspielen. Der Vergleich der beiden Fassadenaufbauten unterstützt 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die Direktmontage eine überlegbare Lösung?</a:t>
            </a:r>
          </a:p>
        </p:txBody>
      </p:sp>
      <p:sp>
        <p:nvSpPr>
          <p:cNvPr id="3" name="Content Placeholder 2"/>
          <p:cNvSpPr>
            <a:spLocks noGrp="1"/>
          </p:cNvSpPr>
          <p:nvPr>
            <p:ph idx="1"/>
          </p:nvPr>
        </p:nvSpPr>
        <p:spPr/>
        <p:txBody>
          <a:bodyPr/>
          <a:lstStyle/>
          <a:p>
            <a:pPr>
              <a:defRPr sz="1800"/>
            </a:pPr>
            <a:r>
              <a:t>e frühe Entscheidung, bevor Profile ausgewählt oder Befestigungsmittel festgelegt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beeinflussen Befestigung und Material die Konstruktion?</a:t>
            </a:r>
          </a:p>
        </p:txBody>
      </p:sp>
      <p:sp>
        <p:nvSpPr>
          <p:cNvPr id="3" name="Content Placeholder 2"/>
          <p:cNvSpPr>
            <a:spLocks noGrp="1"/>
          </p:cNvSpPr>
          <p:nvPr>
            <p:ph idx="1"/>
          </p:nvPr>
        </p:nvSpPr>
        <p:spPr/>
        <p:txBody>
          <a:bodyPr/>
          <a:lstStyle/>
          <a:p>
            <a:pPr>
              <a:defRPr sz="1800"/>
            </a:pPr>
            <a:r>
              <a:t>Bei einer hinterlüfteten Fassade werden die Befestiger in die Traglattung und die Unterkonstruktion eingeleitet. Dadurch lassen sich Kräfte kontrolliert aufnehmen und thermische Bewegungen der Profile besser beherrschen. Die Unterkonstruktion muss so dimensioniert sein, dass der Hinterlüftungsspalt trotz Latten, Bahn und Profilrückseite durchgehend frei bleibt. Bei der Direktmontage müssen Schrauben oder Nägel die Bewegung der Profile dauerhaft mitmachen. Auch die Auswahl korrosionsbeständiger Befestigungsmittel ist hier bedeutsam, insbesondere bei diffusionsoffenen Wänden und geeigneten Hölzern mit höherem Gerbsäureanteil. Welche Befestigung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beeinflussen Befestigung und Material die Konstruktion?</a:t>
            </a:r>
          </a:p>
        </p:txBody>
      </p:sp>
      <p:sp>
        <p:nvSpPr>
          <p:cNvPr id="3" name="Content Placeholder 2"/>
          <p:cNvSpPr>
            <a:spLocks noGrp="1"/>
          </p:cNvSpPr>
          <p:nvPr>
            <p:ph idx="1"/>
          </p:nvPr>
        </p:nvSpPr>
        <p:spPr/>
        <p:txBody>
          <a:bodyPr/>
          <a:lstStyle/>
          <a:p>
            <a:pPr>
              <a:defRPr sz="1800"/>
            </a:pPr>
            <a:r>
              <a:t> für das konkrete Profil, die Untergrundbeschaffenheit und die Einbausituation geeignet ist, sollte anhand der vollständigen Systemdaten geprüft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Anschlüsse müssen vor der Montage geklärt werden?</a:t>
            </a:r>
          </a:p>
        </p:txBody>
      </p:sp>
      <p:sp>
        <p:nvSpPr>
          <p:cNvPr id="3" name="Content Placeholder 2"/>
          <p:cNvSpPr>
            <a:spLocks noGrp="1"/>
          </p:cNvSpPr>
          <p:nvPr>
            <p:ph idx="1"/>
          </p:nvPr>
        </p:nvSpPr>
        <p:spPr/>
        <p:txBody>
          <a:bodyPr/>
          <a:lstStyle/>
          <a:p>
            <a:pPr>
              <a:defRPr sz="1800"/>
            </a:pPr>
            <a:r>
              <a:t>Sockel, Fenster und Dachrand bestimmen, ob die gewählte Fassade tatsächlich funktioniert. Am Sockel beginnt die Wasserableitung. Hinterlüftete Systeme benötigen ein klar ausgebildetes Lüftungsprofil, während bei der Direktmontage ein ausreichender Abstand zwischen Profilunterkante und Gelände wichtig ist. Fensterbänke, Leibungen und Anschlussprofile gehören vor der ersten Brettmontage in die Planung; nachträgliche Anpassungen können die Funktion beeinträchtigen. Am Dachrand endet die Hinterlüftungsebene. Der Spalt muss dort an die Dachuntersicht angeschlossen sein, sodass Luft zirkulieren kann und kein Wasser hinter die Profile gelangt. Diese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Anschlüsse müssen vor der Montage geklärt werden?</a:t>
            </a:r>
          </a:p>
        </p:txBody>
      </p:sp>
      <p:sp>
        <p:nvSpPr>
          <p:cNvPr id="3" name="Content Placeholder 2"/>
          <p:cNvSpPr>
            <a:spLocks noGrp="1"/>
          </p:cNvSpPr>
          <p:nvPr>
            <p:ph idx="1"/>
          </p:nvPr>
        </p:nvSpPr>
        <p:spPr/>
        <p:txBody>
          <a:bodyPr/>
          <a:lstStyle/>
          <a:p>
            <a:pPr>
              <a:defRPr sz="1800"/>
            </a:pPr>
            <a:r>
              <a:t> Übergänge sollten deshalb zusammen mit Schichtenfolge und Befestigung als ein zusammenhängendes Detail betrachtet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sind vor der Planung zu beantworten?</a:t>
            </a:r>
          </a:p>
        </p:txBody>
      </p:sp>
      <p:sp>
        <p:nvSpPr>
          <p:cNvPr id="3" name="Content Placeholder 2"/>
          <p:cNvSpPr>
            <a:spLocks noGrp="1"/>
          </p:cNvSpPr>
          <p:nvPr>
            <p:ph idx="1"/>
          </p:nvPr>
        </p:nvSpPr>
        <p:spPr/>
        <p:txBody>
          <a:bodyPr/>
          <a:lstStyle/>
          <a:p>
            <a:pPr>
              <a:defRPr sz="1800"/>
            </a:pPr>
            <a:r>
              <a:t>Für die weitere Projektplanung sind zunächst der vorhandene Wandaufbau, die gewünschte Profilwirkung, die zur Verfügung stehende Aufbauhöhe und die erwartete Pflege- und Inspektionsbereitschaft zu klären. Auch die Ausführung offener oder geschlossener Profile beeinflusst die Entscheidung. Ein belastbarer Variantenvergleich berücksichtigt zudem, wie Regen- und Tauwasser abgeführt werden, wie Befestigung und Holz zusammenarbeiten und welche Anschlüsse erforderlich sind. Weitere Orientierung zu Aufbau, Konstruktion und Anfragewegen bietet die Übersicht zum Holzbauprojekt in München. Damit lässt sich festlegen, ob eine hinterlüftete Vorhangfassad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sind vor der Planung zu beantworten?</a:t>
            </a:r>
          </a:p>
        </p:txBody>
      </p:sp>
      <p:sp>
        <p:nvSpPr>
          <p:cNvPr id="3" name="Content Placeholder 2"/>
          <p:cNvSpPr>
            <a:spLocks noGrp="1"/>
          </p:cNvSpPr>
          <p:nvPr>
            <p:ph idx="1"/>
          </p:nvPr>
        </p:nvSpPr>
        <p:spPr/>
        <p:txBody>
          <a:bodyPr/>
          <a:lstStyle/>
          <a:p>
            <a:pPr>
              <a:defRPr sz="1800"/>
            </a:pPr>
            <a:r>
              <a:t>e oder eine Direktmontage die passende Grundlage bildet und welche Details anschließend fachlich auszuarbeiten sind.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Hinterlüftete Holzfassade oder Direktmontage: Aufbau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