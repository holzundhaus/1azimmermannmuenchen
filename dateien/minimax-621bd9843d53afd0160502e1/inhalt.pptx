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zimmermannmuenchen.wordpress.com/2026/10/31/holzhausbau-energiekonzept-huelle-sommerlicher-waermeschutz/" TargetMode="External"/><Relationship Id="rId3" Type="http://schemas.openxmlformats.org/officeDocument/2006/relationships/hyperlink" Target="https://holzundhaus.github.io/1azimmermannmuenchen/dateien/minimax-621bd9843d53afd0160502e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Holzhausbau: Energiekonzept, Hüllqualität und sommerlicher Wärmeschutz vor dem ersten Angebot · Erklärende Präsentation</a:t>
            </a:r>
          </a:p>
        </p:txBody>
      </p:sp>
      <p:sp>
        <p:nvSpPr>
          <p:cNvPr id="3" name="Content Placeholder 2"/>
          <p:cNvSpPr>
            <a:spLocks noGrp="1"/>
          </p:cNvSpPr>
          <p:nvPr>
            <p:ph idx="1"/>
          </p:nvPr>
        </p:nvSpPr>
        <p:spPr/>
        <p:txBody>
          <a:bodyPr/>
          <a:lstStyle/>
          <a:p>
            <a:r>
              <a:t>Überblick: Wer ein Holzhaus plant, sollte energetische Anforderungen bereits vor der Anfrage formulieren. Nur so lassen sich Angebote sinnvoll vergleichen, statt allein Dämmstoffdicken oder Preise gegenüberzustellen. Der folgende Leitfaden zeigt, wie aus dem eigenen Raumbedarf eine belastbare Anforderungsliste für Hülle, Anschlüsse und Lüftung entsteht. Die ergänzende Übersicht zu Energiekonzept und sommerlichem Wärmeschutz bietet dafür eine fachliche Grundlage.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 Ausgangsfrage</a:t>
            </a:r>
          </a:p>
        </p:txBody>
      </p:sp>
      <p:sp>
        <p:nvSpPr>
          <p:cNvPr id="3" name="Content Placeholder 2"/>
          <p:cNvSpPr>
            <a:spLocks noGrp="1"/>
          </p:cNvSpPr>
          <p:nvPr>
            <p:ph idx="1"/>
          </p:nvPr>
        </p:nvSpPr>
        <p:spPr/>
        <p:txBody>
          <a:bodyPr/>
          <a:lstStyle/>
          <a:p>
            <a:pPr>
              <a:defRPr sz="1800"/>
            </a:pPr>
            <a:r>
              <a:t>Welche Qualität soll die Gebäudehülle künftig tatsächlich erbringen? Die Antwort betrifft nicht nur die Fläche, sondern das Zusammenspiel von Wand, Dach, Boden, Fenstern, Türen und Sockel. Ein sinnvoller Dämmstandard sollte mit dem geplanten Dämmstoffsystem vereinbar sein. Zugleich ist festzulegen, wie Feuchte, Wärmebrücken und sommerliche Wärme behandelt werden. Diese Grundsatzentscheidung ist wichtig, weil spätere Änderungen einzelner Bauteile schnell weitere Gewerke betreffen. Aus der Betriebsweise lässt sich ableiten, wie viel Wärmespeicher im Innenraum sinnvoll ist, welche Fensterflächen geschützt werden müssen und ob eine kontrollierte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 Ausgangsfrage</a:t>
            </a:r>
          </a:p>
        </p:txBody>
      </p:sp>
      <p:sp>
        <p:nvSpPr>
          <p:cNvPr id="3" name="Content Placeholder 2"/>
          <p:cNvSpPr>
            <a:spLocks noGrp="1"/>
          </p:cNvSpPr>
          <p:nvPr>
            <p:ph idx="1"/>
          </p:nvPr>
        </p:nvSpPr>
        <p:spPr/>
        <p:txBody>
          <a:bodyPr/>
          <a:lstStyle/>
          <a:p>
            <a:pPr>
              <a:defRPr sz="1800"/>
            </a:pPr>
            <a:r>
              <a:t>Lüftung vorgesehen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Bauteile gemeinsam betrachten</a:t>
            </a:r>
          </a:p>
        </p:txBody>
      </p:sp>
      <p:sp>
        <p:nvSpPr>
          <p:cNvPr id="3" name="Content Placeholder 2"/>
          <p:cNvSpPr>
            <a:spLocks noGrp="1"/>
          </p:cNvSpPr>
          <p:nvPr>
            <p:ph idx="1"/>
          </p:nvPr>
        </p:nvSpPr>
        <p:spPr/>
        <p:txBody>
          <a:bodyPr/>
          <a:lstStyle/>
          <a:p>
            <a:pPr>
              <a:defRPr sz="1800"/>
            </a:pPr>
            <a:r>
              <a:t>Für einen nachvollziehbaren Vergleich sollten die Anbieter dieselben Bauteile betrachten: Außenwand, Dach beziehungsweise oberste Geschossdecke, Bodenplatte oder Kellerdecke, Fenster, Dachflächenfenster und Außentüren. Bei Fenstern sind neben dem U-Wert auch Einbau und Anschlussfugen relevant, bei Dachflächenfenstern zusätzlich derGesamtenergieübertrag. Wärmebrücken entstehen bevorzugt an Übergängen, etwa zwischen Sockel und Bodenplatte, am Geschossdeckenauftrag, bei Fenster einbauten, in Traufe und Ortgang sowie an Durchdringungen. Formulieren Sie deshalb nicht nur, dass die Konstruktion wärmebrückenreduziert geplant wird. Verlangen Sie Anga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Bauteile gemeinsam betrachten</a:t>
            </a:r>
          </a:p>
        </p:txBody>
      </p:sp>
      <p:sp>
        <p:nvSpPr>
          <p:cNvPr id="3" name="Content Placeholder 2"/>
          <p:cNvSpPr>
            <a:spLocks noGrp="1"/>
          </p:cNvSpPr>
          <p:nvPr>
            <p:ph idx="1"/>
          </p:nvPr>
        </p:nvSpPr>
        <p:spPr/>
        <p:txBody>
          <a:bodyPr/>
          <a:lstStyle/>
          <a:p>
            <a:pPr>
              <a:defRPr sz="1800"/>
            </a:pPr>
            <a:r>
              <a:t>ben dazu, ob Anschlüsse nachweisbar minimiert oder pauschal berücksichtigt werden und welche Details nachgewiesen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Luftdichtheit mitdenken</a:t>
            </a:r>
          </a:p>
        </p:txBody>
      </p:sp>
      <p:sp>
        <p:nvSpPr>
          <p:cNvPr id="3" name="Content Placeholder 2"/>
          <p:cNvSpPr>
            <a:spLocks noGrp="1"/>
          </p:cNvSpPr>
          <p:nvPr>
            <p:ph idx="1"/>
          </p:nvPr>
        </p:nvSpPr>
        <p:spPr/>
        <p:txBody>
          <a:bodyPr/>
          <a:lstStyle/>
          <a:p>
            <a:pPr>
              <a:defRPr sz="1800"/>
            </a:pPr>
            <a:r>
              <a:t>Holz benötigt einen durchdachten Feuchteschutz. Dazu gehören Angaben zum Holzschutz, zur Feuchteklasse, zum Schlagregenschutz der Fassade und zum Tauwassernachweis der Konstruktion. Auch die Luftdichtheit ist über die gesamte Hülle zu betrachten. Im Leistungsverzeichnis sollten Zielwert und geplante Messung nach Fertigstellung festgelegt werden. Das ist besonders hilfreich, weil Anschlüsse und Durchdringungen häufig über mehrere Gewerke verteilt sind. Legen Sie außerdem fest, wer Lüftungskanäle, Elektroleitungen und Sanitärdurchdringungen plant und ausführt. So bleibt erkennbar, welche Schnittstellen vor der Ausführung verbindlich koordiniert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Luftdichtheit mitdenken</a:t>
            </a:r>
          </a:p>
        </p:txBody>
      </p:sp>
      <p:sp>
        <p:nvSpPr>
          <p:cNvPr id="3" name="Content Placeholder 2"/>
          <p:cNvSpPr>
            <a:spLocks noGrp="1"/>
          </p:cNvSpPr>
          <p:nvPr>
            <p:ph idx="1"/>
          </p:nvPr>
        </p:nvSpPr>
        <p:spPr/>
        <p:txBody>
          <a:bodyPr/>
          <a:lstStyle/>
          <a:p>
            <a:pPr>
              <a:defRPr sz="1800"/>
            </a:pPr>
            <a:r>
              <a:t> werden müssen.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Sommerlichen Wärmeschutz konkretisieren</a:t>
            </a:r>
          </a:p>
        </p:txBody>
      </p:sp>
      <p:sp>
        <p:nvSpPr>
          <p:cNvPr id="3" name="Content Placeholder 2"/>
          <p:cNvSpPr>
            <a:spLocks noGrp="1"/>
          </p:cNvSpPr>
          <p:nvPr>
            <p:ph idx="1"/>
          </p:nvPr>
        </p:nvSpPr>
        <p:spPr/>
        <p:txBody>
          <a:bodyPr/>
          <a:lstStyle/>
          <a:p>
            <a:pPr>
              <a:defRPr sz="1800"/>
            </a:pPr>
            <a:r>
              <a:t>Die sommerliche Wärme sollte nicht erst nach der Fensterplanung behandelt werden. Für das Konzept sind die Ausrichtung und Größe der Fensterflächen, die Verglasung, ein außenliegender Sonnenschutz und die Möglichkeiten zur Nachtlüftung zu prüfen. Bei einer Anlage mit Lüftungsfunktion kann ein Sommer-Bypass vorgesehen werden. Wärmespeichernde Innenflächen wie Holzbalkendecken, Estrich oder Innenputz beeinflussen ebenfalls das Raumklima. Entscheidend ist, dass diese Aspekte in der Leistungsbeschreibung erscheinen. Der ausführliche Beitrag zum sommerlichen Wärmeschutz im Holzhausbau erläutert die Zusammenhänge zwischen Speichermasse, Sonnenschut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Sommerlichen Wärmeschutz konkretisieren</a:t>
            </a:r>
          </a:p>
        </p:txBody>
      </p:sp>
      <p:sp>
        <p:nvSpPr>
          <p:cNvPr id="3" name="Content Placeholder 2"/>
          <p:cNvSpPr>
            <a:spLocks noGrp="1"/>
          </p:cNvSpPr>
          <p:nvPr>
            <p:ph idx="1"/>
          </p:nvPr>
        </p:nvSpPr>
        <p:spPr/>
        <p:txBody>
          <a:bodyPr/>
          <a:lstStyle/>
          <a:p>
            <a:pPr>
              <a:defRPr sz="1800"/>
            </a:pPr>
            <a:r>
              <a:t>z und Lüftung noch ausführlicher. So lassen sich einzelne Wünsche in ein zusammenhängendes Konzept überführen.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Anfrage, die Vergleiche ermöglicht</a:t>
            </a:r>
          </a:p>
        </p:txBody>
      </p:sp>
      <p:sp>
        <p:nvSpPr>
          <p:cNvPr id="3" name="Content Placeholder 2"/>
          <p:cNvSpPr>
            <a:spLocks noGrp="1"/>
          </p:cNvSpPr>
          <p:nvPr>
            <p:ph idx="1"/>
          </p:nvPr>
        </p:nvSpPr>
        <p:spPr/>
        <p:txBody>
          <a:bodyPr/>
          <a:lstStyle/>
          <a:p>
            <a:pPr>
              <a:defRPr sz="1800"/>
            </a:pPr>
            <a:r>
              <a:t>Fassen Sie die Ergebnisse in einer kurzen Anforderungsliste zusammen. Sie sollte den angestrebten Dämmstandard, die Anforderungen an einzelne Bauteile, den Umgang mit Wärmebrücken, das Ziel der Luftdichtheit, den sommerlichen Wärmeschutz und die Zuständigkeiten für Schnittstellen enthalten. Fragen Sie bei jeder Antwort, welche Angaben enthalten sind, welche Detailnachweise vorliegen und wo Abweichungen auftreten. So erhalten Sie vergleichbare Unterlagen, ohne bereits im Vorfeld ein bestimmtes Angebot oder eine konkrete Dämmstoffdicke festzulegen. Ergänzende Orientierung zum Thema Holzhaus und seinen Planungsthemen bietet die Hauptseite des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Anfrage, die Vergleiche ermöglicht</a:t>
            </a:r>
          </a:p>
        </p:txBody>
      </p:sp>
      <p:sp>
        <p:nvSpPr>
          <p:cNvPr id="3" name="Content Placeholder 2"/>
          <p:cNvSpPr>
            <a:spLocks noGrp="1"/>
          </p:cNvSpPr>
          <p:nvPr>
            <p:ph idx="1"/>
          </p:nvPr>
        </p:nvSpPr>
        <p:spPr/>
        <p:txBody>
          <a:bodyPr/>
          <a:lstStyle/>
          <a:p>
            <a:pPr>
              <a:defRPr sz="1800"/>
            </a:pPr>
            <a:r>
              <a:t>bieters.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Holzhausbau: Energiekonzept, Hüllqualität und sommerlicher Wärmeschutz vor dem ersten Angebot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